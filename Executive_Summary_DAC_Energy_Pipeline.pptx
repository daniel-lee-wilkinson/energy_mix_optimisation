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88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4128" y="4305915"/>
            <a:ext cx="9144000" cy="1482512"/>
          </a:xfrm>
        </p:spPr>
        <p:txBody>
          <a:bodyPr anchor="b">
            <a:noAutofit/>
          </a:bodyPr>
          <a:lstStyle>
            <a:lvl1pPr algn="l">
              <a:defRPr sz="4267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4128" y="6024864"/>
            <a:ext cx="9144000" cy="495587"/>
          </a:xfrm>
        </p:spPr>
        <p:txBody>
          <a:bodyPr>
            <a:normAutofit/>
          </a:bodyPr>
          <a:lstStyle>
            <a:lvl1pPr marL="0" indent="0" algn="l">
              <a:buNone/>
              <a:defRPr sz="2133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4F6CF5B-A6A7-F346-2491-546F16C3FB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757"/>
            <a:ext cx="1828800" cy="580813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14ED12E-2F79-FD24-B77E-EEA3751C772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90797" y="501651"/>
            <a:ext cx="1680000" cy="715248"/>
          </a:xfrm>
          <a:prstGeom prst="rect">
            <a:avLst/>
          </a:prstGeom>
        </p:spPr>
      </p:pic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0474914C-A42B-F847-75F9-EE92ED0B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22080" y="6024863"/>
            <a:ext cx="2743200" cy="489983"/>
          </a:xfrm>
        </p:spPr>
        <p:txBody>
          <a:bodyPr/>
          <a:lstStyle>
            <a:lvl1pPr>
              <a:defRPr sz="2133">
                <a:solidFill>
                  <a:schemeClr val="tx2"/>
                </a:solidFill>
              </a:defRPr>
            </a:lvl1pPr>
          </a:lstStyle>
          <a:p>
            <a:fld id="{40879D5E-F427-4D44-AF9B-7A10BC1BCEAC}" type="datetime1">
              <a:rPr lang="de-DE" smtClean="0"/>
              <a:t>11.03.2026</a:t>
            </a:fld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1A99333C-26CB-9B23-6D48-B5CC7ED3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30700" y="6514847"/>
            <a:ext cx="6391656" cy="365125"/>
          </a:xfrm>
        </p:spPr>
        <p:txBody>
          <a:bodyPr/>
          <a:lstStyle/>
          <a:p>
            <a:r>
              <a:rPr lang="de-DE">
                <a:latin typeface="ArialMT"/>
              </a:rPr>
              <a:t>© DACMa GmbH | ALL RIGHTS RESERVED CONFIDENTIAL AND PROPERIETARY DOCUMENT </a:t>
            </a:r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7584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1DCADBC-F3E9-1AD3-4883-2993590AD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8" y="4342491"/>
            <a:ext cx="9144000" cy="1482512"/>
          </a:xfrm>
        </p:spPr>
        <p:txBody>
          <a:bodyPr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600" dirty="0"/>
              <a:t>Executive Summary: Renewable Energy Mix for DAC Operations</a:t>
            </a:r>
            <a:endParaRPr lang="de-DE" sz="3600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2F8782C6-687D-6846-2F89-F6B604FA3A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Energy Mix Optimisation Pipeline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AD8137D-6314-CD59-D949-F55F7BDC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lang="en-US"/>
            </a:defPPr>
            <a:lvl1pPr marL="0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E5516A-F80A-C24E-9CEA-747707AD1F6D}" type="datetime1">
              <a:rPr lang="de-DE" smtClean="0"/>
              <a:t>11.03.2026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FAC186D-F3CE-56A2-633C-31F5499C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lang="en-US"/>
            </a:defPPr>
            <a:lvl1pPr marL="0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12760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519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278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51037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63797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76557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689315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502075" algn="l" defTabSz="812760" rtl="0" eaLnBrk="1" latinLnBrk="0" hangingPunct="1"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00" dirty="0">
                <a:latin typeface="ArialMT"/>
              </a:rPr>
              <a:t>© DACMA GmbH | ALL RIGHTS RESERVED CONFIDENTIAL AND PROPERIETARY DOCUMENT </a:t>
            </a:r>
            <a:endParaRPr lang="de-DE" sz="1000" dirty="0"/>
          </a:p>
          <a:p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718877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This Matters for DAC</a:t>
            </a:r>
            <a:r>
              <a:rPr lang="de-DE" dirty="0"/>
              <a:t>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Electricity carbon intensity can materially reduce net CO2 removal performance.</a:t>
            </a:r>
          </a:p>
          <a:p>
            <a:pPr>
              <a:defRPr sz="2000"/>
            </a:pPr>
            <a:r>
              <a:rPr dirty="0"/>
              <a:t>This workflow identifies the lowest-GWP supply mix under local resource and land constraints.</a:t>
            </a:r>
          </a:p>
          <a:p>
            <a:pPr>
              <a:defRPr sz="2000"/>
            </a:pPr>
            <a:r>
              <a:rPr dirty="0"/>
              <a:t>Outputs are decision-ready: capacity targets, expected grid reliance, and net GWP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Ingest hourly NASA POWER weather data (solar irradiation, wind speed, temperature).</a:t>
            </a:r>
          </a:p>
          <a:p>
            <a:pPr>
              <a:defRPr sz="2000"/>
            </a:pPr>
            <a:r>
              <a:rPr dirty="0"/>
              <a:t>Convert weather into hourly PV and wind generation potential per MW installed.</a:t>
            </a:r>
          </a:p>
          <a:p>
            <a:pPr>
              <a:defRPr sz="2000"/>
            </a:pPr>
            <a:r>
              <a:rPr dirty="0"/>
              <a:t>Simulate hourly battery dispatch and residual grid imports to meet demand.</a:t>
            </a:r>
          </a:p>
          <a:p>
            <a:pPr>
              <a:defRPr sz="2000"/>
            </a:pPr>
            <a:r>
              <a:rPr dirty="0"/>
              <a:t>Grid-search PV/Wind capacities to minimize lifecycle GWP per kWh under land limits.</a:t>
            </a:r>
          </a:p>
          <a:p>
            <a:pPr>
              <a:defRPr sz="2000"/>
            </a:pPr>
            <a:r>
              <a:rPr dirty="0"/>
              <a:t>Publish data tables and figures for operational and strategic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PV: 15% conversion efficiency, temperature derating above 25 C, 0.07 kg CO2e/kWh.</a:t>
            </a:r>
          </a:p>
          <a:p>
            <a:pPr>
              <a:defRPr sz="2000"/>
            </a:pPr>
            <a:r>
              <a:rPr dirty="0"/>
              <a:t>Wind: standard power curve (3/12/25 m/s), 0.011 kg CO2e/kWh.</a:t>
            </a:r>
          </a:p>
          <a:p>
            <a:pPr>
              <a:defRPr sz="2000"/>
            </a:pPr>
            <a:r>
              <a:rPr dirty="0"/>
              <a:t>Land use factors: PV 0.02 km²/MW; Wind 0.26 km²/MW.</a:t>
            </a:r>
          </a:p>
          <a:p>
            <a:pPr>
              <a:defRPr sz="2000"/>
            </a:pPr>
            <a:r>
              <a:rPr dirty="0"/>
              <a:t>Battery: 120 MWh, 90 MW, 90% discharge efficiency, 20% minimum state of charge.</a:t>
            </a:r>
          </a:p>
          <a:p>
            <a:pPr>
              <a:defRPr sz="2000"/>
            </a:pPr>
            <a:r>
              <a:rPr dirty="0"/>
              <a:t>Grid: always available to close deficits at 0.6 kg CO2e/kWh.</a:t>
            </a:r>
          </a:p>
          <a:p>
            <a:pPr>
              <a:defRPr sz="2000"/>
            </a:pPr>
            <a:r>
              <a:rPr dirty="0"/>
              <a:t>Demand profile: hourly scaling to annual target with heat-driven uplift above 30 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 Limitation: Why Wind Can Be Zero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Hard constraint in example case: total land available = 1,000 km²</a:t>
            </a:r>
            <a:r>
              <a:rPr lang="de-DE" dirty="0"/>
              <a:t> (</a:t>
            </a:r>
            <a:r>
              <a:rPr lang="de-DE" dirty="0" err="1"/>
              <a:t>largest</a:t>
            </a:r>
            <a:r>
              <a:rPr lang="de-DE" dirty="0"/>
              <a:t> PV </a:t>
            </a:r>
            <a:r>
              <a:rPr lang="de-DE" dirty="0" err="1"/>
              <a:t>farm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~600 km</a:t>
            </a:r>
            <a:r>
              <a:rPr lang="de-DE" baseline="30000" dirty="0"/>
              <a:t>2</a:t>
            </a:r>
            <a:r>
              <a:rPr lang="de-DE" dirty="0"/>
              <a:t>)</a:t>
            </a:r>
            <a:endParaRPr dirty="0"/>
          </a:p>
          <a:p>
            <a:pPr>
              <a:defRPr sz="2000"/>
            </a:pPr>
            <a:r>
              <a:rPr dirty="0"/>
              <a:t>Land intensity: PV 0.02 km²/MW vs Wind 0.26 km²/MW (~13x larger for wind).</a:t>
            </a:r>
          </a:p>
          <a:p>
            <a:pPr>
              <a:defRPr sz="2000"/>
            </a:pPr>
            <a:r>
              <a:rPr dirty="0"/>
              <a:t>Capacity implied by land limit: PV up to 50,000 MW vs Wind up to 3,846 MW.</a:t>
            </a:r>
          </a:p>
          <a:p>
            <a:pPr>
              <a:defRPr sz="2000"/>
            </a:pPr>
            <a:r>
              <a:rPr dirty="0" err="1"/>
              <a:t>Optimi</a:t>
            </a:r>
            <a:r>
              <a:rPr lang="de-DE" dirty="0"/>
              <a:t>s</a:t>
            </a:r>
            <a:r>
              <a:rPr dirty="0" err="1"/>
              <a:t>ation</a:t>
            </a:r>
            <a:r>
              <a:rPr dirty="0"/>
              <a:t> objective minimizes gross GWP of delivered electricity while meeting demand hourly.</a:t>
            </a:r>
          </a:p>
          <a:p>
            <a:pPr>
              <a:defRPr sz="2000"/>
            </a:pPr>
            <a:r>
              <a:rPr dirty="0"/>
              <a:t>Site data signal: PV delivers ~24.7x more annual energy per km² than wind in current inputs.</a:t>
            </a:r>
          </a:p>
          <a:p>
            <a:pPr>
              <a:defRPr sz="2000"/>
            </a:pPr>
            <a:r>
              <a:rPr dirty="0"/>
              <a:t>Resulting </a:t>
            </a:r>
            <a:r>
              <a:rPr dirty="0" err="1"/>
              <a:t>behavio</a:t>
            </a:r>
            <a:r>
              <a:rPr lang="de-DE" dirty="0"/>
              <a:t>u</a:t>
            </a:r>
            <a:r>
              <a:rPr dirty="0"/>
              <a:t>r: wind is often excluded because allocating scarce land to PV displaces more high-GWP grid energy.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Optimisation Logic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Primary objective: </a:t>
            </a:r>
            <a:r>
              <a:rPr dirty="0" err="1"/>
              <a:t>minimi</a:t>
            </a:r>
            <a:r>
              <a:rPr lang="de-DE" dirty="0"/>
              <a:t>s</a:t>
            </a:r>
            <a:r>
              <a:rPr dirty="0"/>
              <a:t>e gross average GWP of delivered electricity (kg CO2e/kWh).</a:t>
            </a:r>
          </a:p>
          <a:p>
            <a:pPr>
              <a:defRPr sz="2000"/>
            </a:pPr>
            <a:r>
              <a:rPr dirty="0"/>
              <a:t>Net reporting: subtract configured annual atmospheric removal credit (default 5000 tCO2e/year).</a:t>
            </a:r>
          </a:p>
          <a:p>
            <a:pPr>
              <a:defRPr sz="2000"/>
            </a:pPr>
            <a:r>
              <a:rPr dirty="0"/>
              <a:t>Key outputs: optimal PV/Wind MW, source shares, annual emissions, net GWP, curtailment.</a:t>
            </a:r>
          </a:p>
          <a:p>
            <a:pPr>
              <a:defRPr sz="2000"/>
            </a:pPr>
            <a:r>
              <a:rPr dirty="0"/>
              <a:t>Sensitivity mode: evaluate how source shares and net GWP shift with demand level.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Results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Demand sweep: 7,900 to 9,500 MWh/year (8 demand points).</a:t>
            </a:r>
          </a:p>
          <a:p>
            <a:pPr>
              <a:defRPr sz="2000"/>
            </a:pPr>
            <a:r>
              <a:t>Best net GWP in sweep: -0.333 kg CO2e/kWh at 7,900 MWh/year.</a:t>
            </a:r>
          </a:p>
          <a:p>
            <a:pPr>
              <a:defRPr sz="2000"/>
            </a:pPr>
            <a:r>
              <a:t>Grid share trend: 38.1% at low demand -&gt; 47.9% at high demand.</a:t>
            </a:r>
          </a:p>
          <a:p>
            <a:pPr>
              <a:defRPr sz="2000"/>
            </a:pPr>
            <a:r>
              <a:t>At best net GWP point: PV 61.9%, Wind 0.0%, Grid 38.1%.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 Sensitivity: Energy Mix</a:t>
            </a:r>
          </a:p>
        </p:txBody>
      </p:sp>
      <p:pic>
        <p:nvPicPr>
          <p:cNvPr id="3" name="Picture 2" descr="demand_sensitivity_energ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742" y="1417638"/>
            <a:ext cx="8238744" cy="4759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55520" y="6217921"/>
            <a:ext cx="38995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400"/>
              <a:t>Source share changes as annual demand increases.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 Sensitivity: Capacity Requirements</a:t>
            </a:r>
          </a:p>
        </p:txBody>
      </p:sp>
      <p:pic>
        <p:nvPicPr>
          <p:cNvPr id="3" name="Picture 2" descr="demand_sensitivity_capac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813" y="1417638"/>
            <a:ext cx="7670374" cy="44311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55520" y="6217921"/>
            <a:ext cx="549817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400"/>
              <a:t>Installed PV/Wind capacity and resulting net GWP across demand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Profile (Example Optimal System)</a:t>
            </a:r>
          </a:p>
        </p:txBody>
      </p:sp>
      <p:pic>
        <p:nvPicPr>
          <p:cNvPr id="3" name="Picture 2" descr="optimal_system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040" y="1307909"/>
            <a:ext cx="7440799" cy="49337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55521" y="6309361"/>
            <a:ext cx="58758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rPr sz="1400"/>
              <a:t>Hourly patterns for renewable generation, battery use, and demand coverage.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to a DAC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Improves confidence in net-removal claims by tying energy sourcing to emissions outcomes.</a:t>
            </a:r>
          </a:p>
          <a:p>
            <a:pPr>
              <a:defRPr sz="2000"/>
            </a:pPr>
            <a:r>
              <a:t>Supports land and infrastructure planning with transparent capacity-to-performance trade-offs.</a:t>
            </a:r>
          </a:p>
          <a:p>
            <a:pPr>
              <a:defRPr sz="2000"/>
            </a:pPr>
            <a:r>
              <a:t>Enables procurement strategy for PPAs and firming based on modeled grid dependence.</a:t>
            </a:r>
          </a:p>
          <a:p>
            <a:pPr>
              <a:defRPr sz="2000"/>
            </a:pPr>
            <a:r>
              <a:t>Provides a repeatable baseline for techno-economic and financing due diligence.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Co-</a:t>
            </a:r>
            <a:r>
              <a:rPr dirty="0" err="1"/>
              <a:t>optimise</a:t>
            </a:r>
            <a:r>
              <a:rPr dirty="0"/>
              <a:t> battery size (MWh/MW) with PV/Wind capacity to reduce grid reliance further.</a:t>
            </a:r>
          </a:p>
          <a:p>
            <a:pPr>
              <a:defRPr sz="2000"/>
            </a:pPr>
            <a:r>
              <a:rPr dirty="0"/>
              <a:t>Add dynamic grid emissions and electricity pricing to evaluate cost-carbon frontiers.</a:t>
            </a:r>
          </a:p>
          <a:p>
            <a:pPr>
              <a:defRPr sz="2000"/>
            </a:pPr>
            <a:r>
              <a:rPr dirty="0"/>
              <a:t>Run uncertainty ranges for weather years and component performance degradation.</a:t>
            </a:r>
          </a:p>
          <a:p>
            <a:pPr>
              <a:defRPr sz="2000"/>
            </a:pPr>
            <a:r>
              <a:rPr dirty="0"/>
              <a:t>Integrate this model with plant-level DAC operations for dispatch-aware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664</Words>
  <Application>Microsoft Office PowerPoint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ArialMT</vt:lpstr>
      <vt:lpstr>Calibri</vt:lpstr>
      <vt:lpstr>Office Theme</vt:lpstr>
      <vt:lpstr>Executive Summary: Renewable Energy Mix for DAC Operations</vt:lpstr>
      <vt:lpstr>Why This Matters for DACMA</vt:lpstr>
      <vt:lpstr>Pipeline Overview</vt:lpstr>
      <vt:lpstr>Core Assumptions</vt:lpstr>
      <vt:lpstr>Land Limitation: Why Wind Can Be Zero</vt:lpstr>
      <vt:lpstr>Optimisation Logic and KPIs</vt:lpstr>
      <vt:lpstr>Current Results Snapshot</vt:lpstr>
      <vt:lpstr>Demand Sensitivity: Energy Mix</vt:lpstr>
      <vt:lpstr>Demand Sensitivity: Capacity Requirements</vt:lpstr>
      <vt:lpstr>Operational Profile (Example Optimal System)</vt:lpstr>
      <vt:lpstr>Business Value to a DAC Company</vt:lpstr>
      <vt:lpstr>Recommended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Wilkinson</cp:lastModifiedBy>
  <cp:revision>2</cp:revision>
  <dcterms:created xsi:type="dcterms:W3CDTF">2013-01-27T09:14:16Z</dcterms:created>
  <dcterms:modified xsi:type="dcterms:W3CDTF">2026-03-11T12:34:52Z</dcterms:modified>
  <cp:category/>
</cp:coreProperties>
</file>